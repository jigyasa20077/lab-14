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8288000" cy="10287000"/>
  <p:notesSz cx="6858000" cy="9144000"/>
  <p:embeddedFontLst>
    <p:embeddedFont>
      <p:font typeface="Alef" panose="00000500000000000000" pitchFamily="2" charset="-79"/>
      <p:regular r:id="rId17"/>
      <p:bold r:id="rId18"/>
    </p:embeddedFont>
    <p:embeddedFont>
      <p:font typeface="Alef Bold" panose="00000800000000000000" charset="-79"/>
      <p:regular r:id="rId19"/>
    </p:embeddedFont>
    <p:embeddedFont>
      <p:font typeface="Canva Sans Bold"/>
      <p:regular r:id="rId20"/>
    </p:embeddedFont>
    <p:embeddedFont>
      <p:font typeface="Droid Serif Bold" panose="020B0604020202020204" charset="0"/>
      <p:regular r:id="rId21"/>
    </p:embeddedFont>
    <p:embeddedFont>
      <p:font typeface="Proxima Nova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3E0FF6-3848-4113-9912-C7E08E95B87D}" v="4" dt="2026-09-22T01:58:13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nika gupta" userId="505d95f4862118dd" providerId="LiveId" clId="{70072B19-DF4B-4F99-8597-AB405A5FF837}"/>
    <pc:docChg chg="custSel addSld delSld modSld">
      <pc:chgData name="varnika gupta" userId="505d95f4862118dd" providerId="LiveId" clId="{70072B19-DF4B-4F99-8597-AB405A5FF837}" dt="2026-09-22T02:00:46.198" v="145" actId="14100"/>
      <pc:docMkLst>
        <pc:docMk/>
      </pc:docMkLst>
      <pc:sldChg chg="modSp mod">
        <pc:chgData name="varnika gupta" userId="505d95f4862118dd" providerId="LiveId" clId="{70072B19-DF4B-4F99-8597-AB405A5FF837}" dt="2026-09-22T01:47:25.375" v="26" actId="1076"/>
        <pc:sldMkLst>
          <pc:docMk/>
          <pc:sldMk cId="0" sldId="257"/>
        </pc:sldMkLst>
        <pc:spChg chg="mod">
          <ac:chgData name="varnika gupta" userId="505d95f4862118dd" providerId="LiveId" clId="{70072B19-DF4B-4F99-8597-AB405A5FF837}" dt="2026-09-22T01:47:25.375" v="26" actId="1076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varnika gupta" userId="505d95f4862118dd" providerId="LiveId" clId="{70072B19-DF4B-4F99-8597-AB405A5FF837}" dt="2026-09-22T01:56:20.992" v="94" actId="20577"/>
        <pc:sldMkLst>
          <pc:docMk/>
          <pc:sldMk cId="0" sldId="262"/>
        </pc:sldMkLst>
        <pc:spChg chg="mod">
          <ac:chgData name="varnika gupta" userId="505d95f4862118dd" providerId="LiveId" clId="{70072B19-DF4B-4F99-8597-AB405A5FF837}" dt="2026-09-22T01:56:20.992" v="94" actId="20577"/>
          <ac:spMkLst>
            <pc:docMk/>
            <pc:sldMk cId="0" sldId="262"/>
            <ac:spMk id="14" creationId="{00000000-0000-0000-0000-000000000000}"/>
          </ac:spMkLst>
        </pc:spChg>
      </pc:sldChg>
      <pc:sldChg chg="addSp delSp modSp mod">
        <pc:chgData name="varnika gupta" userId="505d95f4862118dd" providerId="LiveId" clId="{70072B19-DF4B-4F99-8597-AB405A5FF837}" dt="2026-09-22T01:54:11.321" v="62" actId="14861"/>
        <pc:sldMkLst>
          <pc:docMk/>
          <pc:sldMk cId="0" sldId="263"/>
        </pc:sldMkLst>
        <pc:spChg chg="del topLvl">
          <ac:chgData name="varnika gupta" userId="505d95f4862118dd" providerId="LiveId" clId="{70072B19-DF4B-4F99-8597-AB405A5FF837}" dt="2026-09-22T01:52:16.421" v="37" actId="478"/>
          <ac:spMkLst>
            <pc:docMk/>
            <pc:sldMk cId="0" sldId="263"/>
            <ac:spMk id="3" creationId="{00000000-0000-0000-0000-000000000000}"/>
          </ac:spMkLst>
        </pc:spChg>
        <pc:grpChg chg="del">
          <ac:chgData name="varnika gupta" userId="505d95f4862118dd" providerId="LiveId" clId="{70072B19-DF4B-4F99-8597-AB405A5FF837}" dt="2026-09-22T01:52:16.421" v="37" actId="478"/>
          <ac:grpSpMkLst>
            <pc:docMk/>
            <pc:sldMk cId="0" sldId="263"/>
            <ac:grpSpMk id="2" creationId="{00000000-0000-0000-0000-000000000000}"/>
          </ac:grpSpMkLst>
        </pc:grpChg>
        <pc:picChg chg="add mod">
          <ac:chgData name="varnika gupta" userId="505d95f4862118dd" providerId="LiveId" clId="{70072B19-DF4B-4F99-8597-AB405A5FF837}" dt="2026-09-22T01:54:11.321" v="62" actId="14861"/>
          <ac:picMkLst>
            <pc:docMk/>
            <pc:sldMk cId="0" sldId="263"/>
            <ac:picMk id="18" creationId="{166F35BE-879C-08B1-9CCE-A6A8C8D43287}"/>
          </ac:picMkLst>
        </pc:picChg>
      </pc:sldChg>
      <pc:sldChg chg="modSp mod">
        <pc:chgData name="varnika gupta" userId="505d95f4862118dd" providerId="LiveId" clId="{70072B19-DF4B-4F99-8597-AB405A5FF837}" dt="2026-09-22T01:54:47.017" v="68" actId="14861"/>
        <pc:sldMkLst>
          <pc:docMk/>
          <pc:sldMk cId="0" sldId="264"/>
        </pc:sldMkLst>
        <pc:picChg chg="mod">
          <ac:chgData name="varnika gupta" userId="505d95f4862118dd" providerId="LiveId" clId="{70072B19-DF4B-4F99-8597-AB405A5FF837}" dt="2026-09-22T01:54:47.017" v="68" actId="14861"/>
          <ac:picMkLst>
            <pc:docMk/>
            <pc:sldMk cId="0" sldId="264"/>
            <ac:picMk id="13" creationId="{85755B8B-A1A7-EB0A-1961-5BAC8B4F71C6}"/>
          </ac:picMkLst>
        </pc:picChg>
      </pc:sldChg>
      <pc:sldChg chg="addSp delSp modSp mod">
        <pc:chgData name="varnika gupta" userId="505d95f4862118dd" providerId="LiveId" clId="{70072B19-DF4B-4F99-8597-AB405A5FF837}" dt="2026-09-22T02:00:46.198" v="145" actId="14100"/>
        <pc:sldMkLst>
          <pc:docMk/>
          <pc:sldMk cId="0" sldId="269"/>
        </pc:sldMkLst>
        <pc:spChg chg="del">
          <ac:chgData name="varnika gupta" userId="505d95f4862118dd" providerId="LiveId" clId="{70072B19-DF4B-4F99-8597-AB405A5FF837}" dt="2026-09-22T01:57:11.688" v="96" actId="478"/>
          <ac:spMkLst>
            <pc:docMk/>
            <pc:sldMk cId="0" sldId="269"/>
            <ac:spMk id="6" creationId="{00000000-0000-0000-0000-000000000000}"/>
          </ac:spMkLst>
        </pc:spChg>
        <pc:spChg chg="del">
          <ac:chgData name="varnika gupta" userId="505d95f4862118dd" providerId="LiveId" clId="{70072B19-DF4B-4F99-8597-AB405A5FF837}" dt="2026-09-22T01:57:11.688" v="96" actId="478"/>
          <ac:spMkLst>
            <pc:docMk/>
            <pc:sldMk cId="0" sldId="269"/>
            <ac:spMk id="7" creationId="{00000000-0000-0000-0000-000000000000}"/>
          </ac:spMkLst>
        </pc:spChg>
        <pc:spChg chg="del">
          <ac:chgData name="varnika gupta" userId="505d95f4862118dd" providerId="LiveId" clId="{70072B19-DF4B-4F99-8597-AB405A5FF837}" dt="2026-09-22T01:57:11.688" v="96" actId="478"/>
          <ac:spMkLst>
            <pc:docMk/>
            <pc:sldMk cId="0" sldId="269"/>
            <ac:spMk id="8" creationId="{00000000-0000-0000-0000-000000000000}"/>
          </ac:spMkLst>
        </pc:spChg>
        <pc:spChg chg="del mod">
          <ac:chgData name="varnika gupta" userId="505d95f4862118dd" providerId="LiveId" clId="{70072B19-DF4B-4F99-8597-AB405A5FF837}" dt="2026-09-22T01:58:05.751" v="123" actId="478"/>
          <ac:spMkLst>
            <pc:docMk/>
            <pc:sldMk cId="0" sldId="269"/>
            <ac:spMk id="9" creationId="{00000000-0000-0000-0000-000000000000}"/>
          </ac:spMkLst>
        </pc:spChg>
        <pc:spChg chg="del">
          <ac:chgData name="varnika gupta" userId="505d95f4862118dd" providerId="LiveId" clId="{70072B19-DF4B-4F99-8597-AB405A5FF837}" dt="2026-09-22T01:57:07.259" v="95" actId="478"/>
          <ac:spMkLst>
            <pc:docMk/>
            <pc:sldMk cId="0" sldId="269"/>
            <ac:spMk id="12" creationId="{00000000-0000-0000-0000-000000000000}"/>
          </ac:spMkLst>
        </pc:spChg>
        <pc:spChg chg="del">
          <ac:chgData name="varnika gupta" userId="505d95f4862118dd" providerId="LiveId" clId="{70072B19-DF4B-4F99-8597-AB405A5FF837}" dt="2026-09-22T01:57:07.259" v="95" actId="478"/>
          <ac:spMkLst>
            <pc:docMk/>
            <pc:sldMk cId="0" sldId="269"/>
            <ac:spMk id="13" creationId="{00000000-0000-0000-0000-000000000000}"/>
          </ac:spMkLst>
        </pc:spChg>
        <pc:spChg chg="del">
          <ac:chgData name="varnika gupta" userId="505d95f4862118dd" providerId="LiveId" clId="{70072B19-DF4B-4F99-8597-AB405A5FF837}" dt="2026-09-22T01:57:07.259" v="95" actId="478"/>
          <ac:spMkLst>
            <pc:docMk/>
            <pc:sldMk cId="0" sldId="269"/>
            <ac:spMk id="14" creationId="{00000000-0000-0000-0000-000000000000}"/>
          </ac:spMkLst>
        </pc:spChg>
        <pc:spChg chg="add mod">
          <ac:chgData name="varnika gupta" userId="505d95f4862118dd" providerId="LiveId" clId="{70072B19-DF4B-4F99-8597-AB405A5FF837}" dt="2026-09-22T02:00:46.198" v="145" actId="14100"/>
          <ac:spMkLst>
            <pc:docMk/>
            <pc:sldMk cId="0" sldId="269"/>
            <ac:spMk id="18" creationId="{EB6A57A8-8D20-5D84-C318-92EF7F13F328}"/>
          </ac:spMkLst>
        </pc:spChg>
      </pc:sldChg>
      <pc:sldChg chg="addSp delSp modSp del mod">
        <pc:chgData name="varnika gupta" userId="505d95f4862118dd" providerId="LiveId" clId="{70072B19-DF4B-4F99-8597-AB405A5FF837}" dt="2026-09-22T01:47:33.810" v="27" actId="2696"/>
        <pc:sldMkLst>
          <pc:docMk/>
          <pc:sldMk cId="3578842906" sldId="271"/>
        </pc:sldMkLst>
        <pc:spChg chg="del">
          <ac:chgData name="varnika gupta" userId="505d95f4862118dd" providerId="LiveId" clId="{70072B19-DF4B-4F99-8597-AB405A5FF837}" dt="2026-09-22T01:18:07.997" v="1" actId="478"/>
          <ac:spMkLst>
            <pc:docMk/>
            <pc:sldMk cId="3578842906" sldId="271"/>
            <ac:spMk id="4" creationId="{439C3DE1-53C4-E269-3827-48FC5A590C2E}"/>
          </ac:spMkLst>
        </pc:spChg>
        <pc:spChg chg="del mod">
          <ac:chgData name="varnika gupta" userId="505d95f4862118dd" providerId="LiveId" clId="{70072B19-DF4B-4F99-8597-AB405A5FF837}" dt="2026-09-22T01:18:16.451" v="2" actId="478"/>
          <ac:spMkLst>
            <pc:docMk/>
            <pc:sldMk cId="3578842906" sldId="271"/>
            <ac:spMk id="8" creationId="{264A0954-548B-47E6-44F0-D496FD7ABCCC}"/>
          </ac:spMkLst>
        </pc:spChg>
        <pc:spChg chg="del">
          <ac:chgData name="varnika gupta" userId="505d95f4862118dd" providerId="LiveId" clId="{70072B19-DF4B-4F99-8597-AB405A5FF837}" dt="2026-09-22T01:18:16.451" v="2" actId="478"/>
          <ac:spMkLst>
            <pc:docMk/>
            <pc:sldMk cId="3578842906" sldId="271"/>
            <ac:spMk id="9" creationId="{6CF3344E-3133-8B69-A9CB-13E651388C38}"/>
          </ac:spMkLst>
        </pc:spChg>
        <pc:spChg chg="del">
          <ac:chgData name="varnika gupta" userId="505d95f4862118dd" providerId="LiveId" clId="{70072B19-DF4B-4F99-8597-AB405A5FF837}" dt="2026-09-22T01:18:16.451" v="2" actId="478"/>
          <ac:spMkLst>
            <pc:docMk/>
            <pc:sldMk cId="3578842906" sldId="271"/>
            <ac:spMk id="10" creationId="{663EB794-E05F-673F-9DA9-59077602896E}"/>
          </ac:spMkLst>
        </pc:spChg>
        <pc:spChg chg="del">
          <ac:chgData name="varnika gupta" userId="505d95f4862118dd" providerId="LiveId" clId="{70072B19-DF4B-4F99-8597-AB405A5FF837}" dt="2026-09-22T01:18:16.451" v="2" actId="478"/>
          <ac:spMkLst>
            <pc:docMk/>
            <pc:sldMk cId="3578842906" sldId="271"/>
            <ac:spMk id="12" creationId="{13770A63-73D2-F7FC-FA0D-FF8977714972}"/>
          </ac:spMkLst>
        </pc:spChg>
        <pc:spChg chg="del">
          <ac:chgData name="varnika gupta" userId="505d95f4862118dd" providerId="LiveId" clId="{70072B19-DF4B-4F99-8597-AB405A5FF837}" dt="2026-09-22T01:18:18.723" v="3" actId="478"/>
          <ac:spMkLst>
            <pc:docMk/>
            <pc:sldMk cId="3578842906" sldId="271"/>
            <ac:spMk id="14" creationId="{29BF285E-02BD-C44F-E7D9-4F02B0A8A717}"/>
          </ac:spMkLst>
        </pc:spChg>
        <pc:picChg chg="add del mod">
          <ac:chgData name="varnika gupta" userId="505d95f4862118dd" providerId="LiveId" clId="{70072B19-DF4B-4F99-8597-AB405A5FF837}" dt="2026-09-22T01:18:59.394" v="6" actId="478"/>
          <ac:picMkLst>
            <pc:docMk/>
            <pc:sldMk cId="3578842906" sldId="271"/>
            <ac:picMk id="3" creationId="{C89C8661-BDFD-428F-1229-B65FDF5668D3}"/>
          </ac:picMkLst>
        </pc:picChg>
      </pc:sldChg>
      <pc:sldChg chg="addSp modSp add del mod setBg">
        <pc:chgData name="varnika gupta" userId="505d95f4862118dd" providerId="LiveId" clId="{70072B19-DF4B-4F99-8597-AB405A5FF837}" dt="2026-09-22T01:48:13.178" v="36" actId="1076"/>
        <pc:sldMkLst>
          <pc:docMk/>
          <pc:sldMk cId="0" sldId="272"/>
        </pc:sldMkLst>
        <pc:spChg chg="mod">
          <ac:chgData name="varnika gupta" userId="505d95f4862118dd" providerId="LiveId" clId="{70072B19-DF4B-4F99-8597-AB405A5FF837}" dt="2026-09-22T01:47:04.506" v="24" actId="255"/>
          <ac:spMkLst>
            <pc:docMk/>
            <pc:sldMk cId="0" sldId="272"/>
            <ac:spMk id="8" creationId="{00000000-0000-0000-0000-000000000000}"/>
          </ac:spMkLst>
        </pc:spChg>
        <pc:spChg chg="mod">
          <ac:chgData name="varnika gupta" userId="505d95f4862118dd" providerId="LiveId" clId="{70072B19-DF4B-4F99-8597-AB405A5FF837}" dt="2026-09-22T01:46:50.624" v="23" actId="1076"/>
          <ac:spMkLst>
            <pc:docMk/>
            <pc:sldMk cId="0" sldId="272"/>
            <ac:spMk id="9" creationId="{00000000-0000-0000-0000-000000000000}"/>
          </ac:spMkLst>
        </pc:spChg>
        <pc:spChg chg="mod">
          <ac:chgData name="varnika gupta" userId="505d95f4862118dd" providerId="LiveId" clId="{70072B19-DF4B-4F99-8597-AB405A5FF837}" dt="2026-09-22T01:48:13.178" v="36" actId="1076"/>
          <ac:spMkLst>
            <pc:docMk/>
            <pc:sldMk cId="0" sldId="272"/>
            <ac:spMk id="10" creationId="{00000000-0000-0000-0000-000000000000}"/>
          </ac:spMkLst>
        </pc:spChg>
        <pc:spChg chg="add mod">
          <ac:chgData name="varnika gupta" userId="505d95f4862118dd" providerId="LiveId" clId="{70072B19-DF4B-4F99-8597-AB405A5FF837}" dt="2026-09-22T01:47:13.427" v="25" actId="1076"/>
          <ac:spMkLst>
            <pc:docMk/>
            <pc:sldMk cId="0" sldId="272"/>
            <ac:spMk id="12" creationId="{41AB6E19-D81A-8B64-B572-C074CBF32F9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10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1.sv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6.svg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16.sv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sv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svg"/><Relationship Id="rId5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6.sv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30.svg"/><Relationship Id="rId5" Type="http://schemas.openxmlformats.org/officeDocument/2006/relationships/image" Target="../media/image17.sv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10.svg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11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5F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1850" y="-403058"/>
            <a:ext cx="2946119" cy="2843005"/>
          </a:xfrm>
          <a:custGeom>
            <a:avLst/>
            <a:gdLst/>
            <a:ahLst/>
            <a:cxnLst/>
            <a:rect l="l" t="t" r="r" b="b"/>
            <a:pathLst>
              <a:path w="2946119" h="2843005">
                <a:moveTo>
                  <a:pt x="0" y="0"/>
                </a:moveTo>
                <a:lnTo>
                  <a:pt x="2946119" y="0"/>
                </a:lnTo>
                <a:lnTo>
                  <a:pt x="2946119" y="2843005"/>
                </a:lnTo>
                <a:lnTo>
                  <a:pt x="0" y="28430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5691761" y="7494671"/>
            <a:ext cx="2946119" cy="2843005"/>
          </a:xfrm>
          <a:custGeom>
            <a:avLst/>
            <a:gdLst/>
            <a:ahLst/>
            <a:cxnLst/>
            <a:rect l="l" t="t" r="r" b="b"/>
            <a:pathLst>
              <a:path w="2946119" h="2843005">
                <a:moveTo>
                  <a:pt x="2946119" y="2843005"/>
                </a:moveTo>
                <a:lnTo>
                  <a:pt x="0" y="2843005"/>
                </a:lnTo>
                <a:lnTo>
                  <a:pt x="0" y="0"/>
                </a:lnTo>
                <a:lnTo>
                  <a:pt x="2946119" y="0"/>
                </a:lnTo>
                <a:lnTo>
                  <a:pt x="2946119" y="28430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530658" y="-207545"/>
            <a:ext cx="1107222" cy="2259636"/>
          </a:xfrm>
          <a:custGeom>
            <a:avLst/>
            <a:gdLst/>
            <a:ahLst/>
            <a:cxnLst/>
            <a:rect l="l" t="t" r="r" b="b"/>
            <a:pathLst>
              <a:path w="1107222" h="2259636">
                <a:moveTo>
                  <a:pt x="0" y="0"/>
                </a:moveTo>
                <a:lnTo>
                  <a:pt x="1107222" y="0"/>
                </a:lnTo>
                <a:lnTo>
                  <a:pt x="1107222" y="2259637"/>
                </a:lnTo>
                <a:lnTo>
                  <a:pt x="0" y="22596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61850" y="8459055"/>
            <a:ext cx="1107222" cy="2259636"/>
          </a:xfrm>
          <a:custGeom>
            <a:avLst/>
            <a:gdLst/>
            <a:ahLst/>
            <a:cxnLst/>
            <a:rect l="l" t="t" r="r" b="b"/>
            <a:pathLst>
              <a:path w="1107222" h="2259636">
                <a:moveTo>
                  <a:pt x="1107222" y="0"/>
                </a:moveTo>
                <a:lnTo>
                  <a:pt x="0" y="0"/>
                </a:lnTo>
                <a:lnTo>
                  <a:pt x="0" y="2259637"/>
                </a:lnTo>
                <a:lnTo>
                  <a:pt x="1107222" y="2259637"/>
                </a:lnTo>
                <a:lnTo>
                  <a:pt x="11072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330577" y="3206416"/>
            <a:ext cx="3518154" cy="4114800"/>
          </a:xfrm>
          <a:custGeom>
            <a:avLst/>
            <a:gdLst/>
            <a:ahLst/>
            <a:cxnLst/>
            <a:rect l="l" t="t" r="r" b="b"/>
            <a:pathLst>
              <a:path w="3518154" h="4114800">
                <a:moveTo>
                  <a:pt x="0" y="0"/>
                </a:moveTo>
                <a:lnTo>
                  <a:pt x="3518154" y="0"/>
                </a:lnTo>
                <a:lnTo>
                  <a:pt x="35181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6778578" y="3502045"/>
            <a:ext cx="3518154" cy="4114800"/>
          </a:xfrm>
          <a:custGeom>
            <a:avLst/>
            <a:gdLst/>
            <a:ahLst/>
            <a:cxnLst/>
            <a:rect l="l" t="t" r="r" b="b"/>
            <a:pathLst>
              <a:path w="3518154" h="4114800">
                <a:moveTo>
                  <a:pt x="3518154" y="0"/>
                </a:moveTo>
                <a:lnTo>
                  <a:pt x="0" y="0"/>
                </a:lnTo>
                <a:lnTo>
                  <a:pt x="0" y="4114800"/>
                </a:lnTo>
                <a:lnTo>
                  <a:pt x="3518154" y="4114800"/>
                </a:lnTo>
                <a:lnTo>
                  <a:pt x="35181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749317" y="1712165"/>
            <a:ext cx="12789367" cy="2590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R="0" algn="ctr" fontAlgn="auto">
              <a:lnSpc>
                <a:spcPts val="101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1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Droid Serif Bold"/>
                <a:ea typeface="Droid Serif Bold"/>
                <a:cs typeface="Droid Serif Bold"/>
                <a:sym typeface="Bebas Neue Bold"/>
              </a:rPr>
              <a:t>GENERATIVE AI IN AVIATION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78879" y="4825670"/>
            <a:ext cx="9008396" cy="400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35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BagAssist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 AI: Simplifying the Passenger Baggage Experience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90645" y="5748768"/>
            <a:ext cx="6295382" cy="3590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Presented by:</a:t>
            </a:r>
          </a:p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Gourav 2520996518</a:t>
            </a:r>
          </a:p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Jyoti 2520996533</a:t>
            </a:r>
          </a:p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Dharvi 2520996512</a:t>
            </a:r>
          </a:p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Anshul 2520996504</a:t>
            </a:r>
          </a:p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Jigyasa 2520996532</a:t>
            </a:r>
          </a:p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Varnika 2520996566</a:t>
            </a:r>
            <a:b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</a:b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Program: BBA Aviation Management</a:t>
            </a: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41AB6E19-D81A-8B64-B572-C074CBF32F92}"/>
              </a:ext>
            </a:extLst>
          </p:cNvPr>
          <p:cNvSpPr/>
          <p:nvPr/>
        </p:nvSpPr>
        <p:spPr>
          <a:xfrm>
            <a:off x="14731523" y="3790456"/>
            <a:ext cx="1443987" cy="1306809"/>
          </a:xfrm>
          <a:custGeom>
            <a:avLst/>
            <a:gdLst/>
            <a:ahLst/>
            <a:cxnLst/>
            <a:rect l="l" t="t" r="r" b="b"/>
            <a:pathLst>
              <a:path w="1443987" h="1306809">
                <a:moveTo>
                  <a:pt x="0" y="0"/>
                </a:moveTo>
                <a:lnTo>
                  <a:pt x="1443987" y="0"/>
                </a:lnTo>
                <a:lnTo>
                  <a:pt x="1443987" y="1306809"/>
                </a:lnTo>
                <a:lnTo>
                  <a:pt x="0" y="1306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420187"/>
            <a:ext cx="6796652" cy="11127374"/>
            <a:chOff x="0" y="0"/>
            <a:chExt cx="1938035" cy="31729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38035" cy="3172920"/>
            </a:xfrm>
            <a:custGeom>
              <a:avLst/>
              <a:gdLst/>
              <a:ahLst/>
              <a:cxnLst/>
              <a:rect l="l" t="t" r="r" b="b"/>
              <a:pathLst>
                <a:path w="1938035" h="3172920">
                  <a:moveTo>
                    <a:pt x="0" y="0"/>
                  </a:moveTo>
                  <a:lnTo>
                    <a:pt x="1938035" y="0"/>
                  </a:lnTo>
                  <a:lnTo>
                    <a:pt x="1938035" y="3172920"/>
                  </a:lnTo>
                  <a:lnTo>
                    <a:pt x="0" y="3172920"/>
                  </a:lnTo>
                  <a:close/>
                </a:path>
              </a:pathLst>
            </a:custGeom>
            <a:blipFill>
              <a:blip r:embed="rId2"/>
              <a:stretch>
                <a:fillRect l="-855" r="-85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6313111" y="7414515"/>
            <a:ext cx="4482835" cy="2242250"/>
          </a:xfrm>
          <a:custGeom>
            <a:avLst/>
            <a:gdLst/>
            <a:ahLst/>
            <a:cxnLst/>
            <a:rect l="l" t="t" r="r" b="b"/>
            <a:pathLst>
              <a:path w="4482835" h="2242250">
                <a:moveTo>
                  <a:pt x="0" y="0"/>
                </a:moveTo>
                <a:lnTo>
                  <a:pt x="4482835" y="0"/>
                </a:lnTo>
                <a:lnTo>
                  <a:pt x="4482835" y="2242250"/>
                </a:lnTo>
                <a:lnTo>
                  <a:pt x="0" y="2242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043730" cy="77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017422" y="857300"/>
            <a:ext cx="1419617" cy="342801"/>
          </a:xfrm>
          <a:custGeom>
            <a:avLst/>
            <a:gdLst/>
            <a:ahLst/>
            <a:cxnLst/>
            <a:rect l="l" t="t" r="r" b="b"/>
            <a:pathLst>
              <a:path w="1419617" h="342801">
                <a:moveTo>
                  <a:pt x="0" y="0"/>
                </a:moveTo>
                <a:lnTo>
                  <a:pt x="1419617" y="0"/>
                </a:lnTo>
                <a:lnTo>
                  <a:pt x="1419617" y="342800"/>
                </a:lnTo>
                <a:lnTo>
                  <a:pt x="0" y="342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117856" y="546696"/>
            <a:ext cx="1443987" cy="1306809"/>
          </a:xfrm>
          <a:custGeom>
            <a:avLst/>
            <a:gdLst/>
            <a:ahLst/>
            <a:cxnLst/>
            <a:rect l="l" t="t" r="r" b="b"/>
            <a:pathLst>
              <a:path w="1443987" h="1306809">
                <a:moveTo>
                  <a:pt x="0" y="0"/>
                </a:moveTo>
                <a:lnTo>
                  <a:pt x="1443987" y="0"/>
                </a:lnTo>
                <a:lnTo>
                  <a:pt x="1443987" y="1306809"/>
                </a:lnTo>
                <a:lnTo>
                  <a:pt x="0" y="1306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017422" y="1922810"/>
            <a:ext cx="8115300" cy="3914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113"/>
              </a:lnSpc>
            </a:pPr>
            <a:r>
              <a:rPr lang="en-US" sz="10113" b="1" dirty="0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Lost in the Airport Maze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17422" y="6075649"/>
            <a:ext cx="7100434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Every day, thousands of passengers face the same struggle — searching for baggage rules, asking the same questions repeatedly, and never getting a clear answer. Confusion leads to missed flights, overpacked bags, and a frustrating travel experience.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17422" y="8146384"/>
            <a:ext cx="6168629" cy="37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2"/>
              </a:lnSpc>
              <a:spcBef>
                <a:spcPct val="0"/>
              </a:spcBef>
            </a:pPr>
            <a:r>
              <a:rPr lang="en-US" sz="2165" b="1">
                <a:solidFill>
                  <a:srgbClr val="16245A"/>
                </a:solidFill>
                <a:latin typeface="Alef Bold"/>
                <a:ea typeface="Alef Bold"/>
                <a:cs typeface="Alef Bold"/>
                <a:sym typeface="Alef Bold"/>
              </a:rPr>
              <a:t>Generative AI in Aviation | AeroNova Airways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168295"/>
            <a:ext cx="9370834" cy="2832051"/>
            <a:chOff x="0" y="0"/>
            <a:chExt cx="627308" cy="1895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7308" cy="189585"/>
            </a:xfrm>
            <a:custGeom>
              <a:avLst/>
              <a:gdLst/>
              <a:ahLst/>
              <a:cxnLst/>
              <a:rect l="l" t="t" r="r" b="b"/>
              <a:pathLst>
                <a:path w="627308" h="189585">
                  <a:moveTo>
                    <a:pt x="0" y="0"/>
                  </a:moveTo>
                  <a:lnTo>
                    <a:pt x="627308" y="0"/>
                  </a:lnTo>
                  <a:lnTo>
                    <a:pt x="627308" y="189585"/>
                  </a:lnTo>
                  <a:lnTo>
                    <a:pt x="0" y="189585"/>
                  </a:lnTo>
                  <a:close/>
                </a:path>
              </a:pathLst>
            </a:custGeom>
            <a:blipFill>
              <a:blip r:embed="rId2"/>
              <a:stretch>
                <a:fillRect t="-873" b="-87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6198464"/>
            <a:ext cx="9370834" cy="2936011"/>
            <a:chOff x="0" y="0"/>
            <a:chExt cx="627308" cy="1965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7308" cy="196544"/>
            </a:xfrm>
            <a:custGeom>
              <a:avLst/>
              <a:gdLst/>
              <a:ahLst/>
              <a:cxnLst/>
              <a:rect l="l" t="t" r="r" b="b"/>
              <a:pathLst>
                <a:path w="627308" h="196544">
                  <a:moveTo>
                    <a:pt x="0" y="0"/>
                  </a:moveTo>
                  <a:lnTo>
                    <a:pt x="627308" y="0"/>
                  </a:lnTo>
                  <a:lnTo>
                    <a:pt x="627308" y="196544"/>
                  </a:lnTo>
                  <a:lnTo>
                    <a:pt x="0" y="196544"/>
                  </a:lnTo>
                  <a:close/>
                </a:path>
              </a:pathLst>
            </a:custGeom>
            <a:blipFill>
              <a:blip r:embed="rId3"/>
              <a:stretch>
                <a:fillRect l="-130" r="-13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782310" y="6198464"/>
            <a:ext cx="1234808" cy="298174"/>
          </a:xfrm>
          <a:custGeom>
            <a:avLst/>
            <a:gdLst/>
            <a:ahLst/>
            <a:cxnLst/>
            <a:rect l="l" t="t" r="r" b="b"/>
            <a:pathLst>
              <a:path w="1234808" h="298174">
                <a:moveTo>
                  <a:pt x="0" y="0"/>
                </a:moveTo>
                <a:lnTo>
                  <a:pt x="1234807" y="0"/>
                </a:lnTo>
                <a:lnTo>
                  <a:pt x="1234807" y="298173"/>
                </a:lnTo>
                <a:lnTo>
                  <a:pt x="0" y="2981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782310" y="3168295"/>
            <a:ext cx="1234808" cy="298174"/>
          </a:xfrm>
          <a:custGeom>
            <a:avLst/>
            <a:gdLst/>
            <a:ahLst/>
            <a:cxnLst/>
            <a:rect l="l" t="t" r="r" b="b"/>
            <a:pathLst>
              <a:path w="1234808" h="298174">
                <a:moveTo>
                  <a:pt x="0" y="0"/>
                </a:moveTo>
                <a:lnTo>
                  <a:pt x="1234807" y="0"/>
                </a:lnTo>
                <a:lnTo>
                  <a:pt x="1234807" y="298174"/>
                </a:lnTo>
                <a:lnTo>
                  <a:pt x="0" y="298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259300" y="2104942"/>
            <a:ext cx="1709944" cy="683978"/>
          </a:xfrm>
          <a:custGeom>
            <a:avLst/>
            <a:gdLst/>
            <a:ahLst/>
            <a:cxnLst/>
            <a:rect l="l" t="t" r="r" b="b"/>
            <a:pathLst>
              <a:path w="1709944" h="683978">
                <a:moveTo>
                  <a:pt x="0" y="0"/>
                </a:moveTo>
                <a:lnTo>
                  <a:pt x="1709944" y="0"/>
                </a:lnTo>
                <a:lnTo>
                  <a:pt x="1709944" y="683978"/>
                </a:lnTo>
                <a:lnTo>
                  <a:pt x="0" y="683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133475"/>
            <a:ext cx="12992105" cy="165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0"/>
              </a:lnSpc>
            </a:pPr>
            <a:r>
              <a:rPr lang="en-US" sz="6300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The Hidden Cost of</a:t>
            </a:r>
          </a:p>
          <a:p>
            <a:pPr marL="0" lvl="0" indent="0" algn="l">
              <a:lnSpc>
                <a:spcPts val="6300"/>
              </a:lnSpc>
            </a:pPr>
            <a:r>
              <a:rPr lang="en-US" sz="6300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Baggage Confusion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82310" y="3644203"/>
            <a:ext cx="6476990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AeroNova Airways handles 4,000+ daily passengers. Over 38% of support queries are baggage-related — flooding service desks with repeated questions, creating long queues, and leaving staff overwhelmed with inconsistent answers.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82310" y="6726352"/>
            <a:ext cx="6476990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Passenger satisfaction scores dropped 22% in 2023. Missed connections, delayed resolutions, and frustrated travelers are costing AeroNova both loyalty and revenue — a problem that demands an intelligent solution.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6670285" y="-218491"/>
            <a:ext cx="1443987" cy="1306809"/>
          </a:xfrm>
          <a:custGeom>
            <a:avLst/>
            <a:gdLst/>
            <a:ahLst/>
            <a:cxnLst/>
            <a:rect l="l" t="t" r="r" b="b"/>
            <a:pathLst>
              <a:path w="1443987" h="1306809">
                <a:moveTo>
                  <a:pt x="0" y="0"/>
                </a:moveTo>
                <a:lnTo>
                  <a:pt x="1443987" y="0"/>
                </a:lnTo>
                <a:lnTo>
                  <a:pt x="1443987" y="1306809"/>
                </a:lnTo>
                <a:lnTo>
                  <a:pt x="0" y="1306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1280873" y="-498158"/>
            <a:ext cx="2431724" cy="1914556"/>
          </a:xfrm>
          <a:custGeom>
            <a:avLst/>
            <a:gdLst/>
            <a:ahLst/>
            <a:cxnLst/>
            <a:rect l="l" t="t" r="r" b="b"/>
            <a:pathLst>
              <a:path w="2431724" h="1914556">
                <a:moveTo>
                  <a:pt x="0" y="0"/>
                </a:moveTo>
                <a:lnTo>
                  <a:pt x="2431725" y="0"/>
                </a:lnTo>
                <a:lnTo>
                  <a:pt x="2431725" y="1914556"/>
                </a:lnTo>
                <a:lnTo>
                  <a:pt x="0" y="1914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539457" y="2077848"/>
            <a:ext cx="7298748" cy="7763954"/>
            <a:chOff x="0" y="0"/>
            <a:chExt cx="600578" cy="6388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00578" cy="638858"/>
            </a:xfrm>
            <a:custGeom>
              <a:avLst/>
              <a:gdLst/>
              <a:ahLst/>
              <a:cxnLst/>
              <a:rect l="l" t="t" r="r" b="b"/>
              <a:pathLst>
                <a:path w="600578" h="638858">
                  <a:moveTo>
                    <a:pt x="0" y="0"/>
                  </a:moveTo>
                  <a:lnTo>
                    <a:pt x="600578" y="0"/>
                  </a:lnTo>
                  <a:lnTo>
                    <a:pt x="600578" y="638858"/>
                  </a:lnTo>
                  <a:lnTo>
                    <a:pt x="0" y="638858"/>
                  </a:lnTo>
                  <a:close/>
                </a:path>
              </a:pathLst>
            </a:custGeom>
            <a:blipFill>
              <a:blip r:embed="rId3"/>
              <a:stretch>
                <a:fillRect l="-726" r="-726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5400000" flipH="1">
            <a:off x="18095409" y="-2469429"/>
            <a:ext cx="918239" cy="4938859"/>
          </a:xfrm>
          <a:custGeom>
            <a:avLst/>
            <a:gdLst/>
            <a:ahLst/>
            <a:cxnLst/>
            <a:rect l="l" t="t" r="r" b="b"/>
            <a:pathLst>
              <a:path w="918239" h="4938859">
                <a:moveTo>
                  <a:pt x="918239" y="0"/>
                </a:moveTo>
                <a:lnTo>
                  <a:pt x="0" y="0"/>
                </a:lnTo>
                <a:lnTo>
                  <a:pt x="0" y="4938858"/>
                </a:lnTo>
                <a:lnTo>
                  <a:pt x="918239" y="4938858"/>
                </a:lnTo>
                <a:lnTo>
                  <a:pt x="91823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>
            <a:off x="-548260" y="-130676"/>
            <a:ext cx="918239" cy="4938859"/>
          </a:xfrm>
          <a:custGeom>
            <a:avLst/>
            <a:gdLst/>
            <a:ahLst/>
            <a:cxnLst/>
            <a:rect l="l" t="t" r="r" b="b"/>
            <a:pathLst>
              <a:path w="918239" h="4938859">
                <a:moveTo>
                  <a:pt x="918239" y="0"/>
                </a:moveTo>
                <a:lnTo>
                  <a:pt x="0" y="0"/>
                </a:lnTo>
                <a:lnTo>
                  <a:pt x="0" y="4938859"/>
                </a:lnTo>
                <a:lnTo>
                  <a:pt x="918239" y="4938859"/>
                </a:lnTo>
                <a:lnTo>
                  <a:pt x="91823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443975"/>
            <a:ext cx="9254942" cy="1818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13"/>
              </a:lnSpc>
            </a:pPr>
            <a:r>
              <a:rPr lang="en-US" sz="6295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About AeroNova Airways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745129"/>
            <a:ext cx="10007665" cy="2213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AeroNova Airways is a modern, digital-first airline built on a simple promise: every passenger deserves a seamless, stress-free journey. Operating over 200 routes across 40 countries, AeroNova connects millions of travelers each year through a network of smart airports and next-generation aircraft. From the moment a ticket is booked to the final baggage claim, AeroNova is reimagining what air travel can feel like.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063564"/>
            <a:ext cx="10007665" cy="2213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At the heart of AeroNova's vision is technology. The airline invests heavily in digital infrastructure — mobile-first check-in, real-time flight tracking, and AI-powered passenger support. Yet despite these advances, one persistent pain point remained: baggage information. Passengers were confused, staff were overwhelmed, and the experience suffered. AeroNova knew it was time for a smarter solution.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654040" y="392529"/>
            <a:ext cx="2555364" cy="1652142"/>
          </a:xfrm>
          <a:custGeom>
            <a:avLst/>
            <a:gdLst/>
            <a:ahLst/>
            <a:cxnLst/>
            <a:rect l="l" t="t" r="r" b="b"/>
            <a:pathLst>
              <a:path w="2555364" h="1652142">
                <a:moveTo>
                  <a:pt x="0" y="0"/>
                </a:moveTo>
                <a:lnTo>
                  <a:pt x="2555364" y="0"/>
                </a:lnTo>
                <a:lnTo>
                  <a:pt x="2555364" y="1652143"/>
                </a:lnTo>
                <a:lnTo>
                  <a:pt x="0" y="16521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2902" y="3438718"/>
            <a:ext cx="5669566" cy="6257261"/>
            <a:chOff x="0" y="0"/>
            <a:chExt cx="536968" cy="5926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6968" cy="592629"/>
            </a:xfrm>
            <a:custGeom>
              <a:avLst/>
              <a:gdLst/>
              <a:ahLst/>
              <a:cxnLst/>
              <a:rect l="l" t="t" r="r" b="b"/>
              <a:pathLst>
                <a:path w="536968" h="592629">
                  <a:moveTo>
                    <a:pt x="0" y="0"/>
                  </a:moveTo>
                  <a:lnTo>
                    <a:pt x="536968" y="0"/>
                  </a:lnTo>
                  <a:lnTo>
                    <a:pt x="536968" y="592629"/>
                  </a:lnTo>
                  <a:lnTo>
                    <a:pt x="0" y="592629"/>
                  </a:lnTo>
                  <a:close/>
                </a:path>
              </a:pathLst>
            </a:custGeom>
            <a:blipFill>
              <a:blip r:embed="rId2"/>
              <a:stretch>
                <a:fillRect t="-548" b="-548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-5400000">
            <a:off x="16306921" y="7334229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5400000">
            <a:off x="-1944411" y="4526339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7" y="0"/>
                </a:lnTo>
                <a:lnTo>
                  <a:pt x="3962157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028700" y="-419584"/>
            <a:ext cx="2329537" cy="1747591"/>
          </a:xfrm>
          <a:custGeom>
            <a:avLst/>
            <a:gdLst/>
            <a:ahLst/>
            <a:cxnLst/>
            <a:rect l="l" t="t" r="r" b="b"/>
            <a:pathLst>
              <a:path w="2329537" h="1747591">
                <a:moveTo>
                  <a:pt x="0" y="0"/>
                </a:moveTo>
                <a:lnTo>
                  <a:pt x="2329537" y="0"/>
                </a:lnTo>
                <a:lnTo>
                  <a:pt x="2329537" y="1747590"/>
                </a:lnTo>
                <a:lnTo>
                  <a:pt x="0" y="17475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400000">
            <a:off x="17072138" y="1586590"/>
            <a:ext cx="2431724" cy="1914556"/>
          </a:xfrm>
          <a:custGeom>
            <a:avLst/>
            <a:gdLst/>
            <a:ahLst/>
            <a:cxnLst/>
            <a:rect l="l" t="t" r="r" b="b"/>
            <a:pathLst>
              <a:path w="2431724" h="1914556">
                <a:moveTo>
                  <a:pt x="0" y="0"/>
                </a:moveTo>
                <a:lnTo>
                  <a:pt x="2431724" y="0"/>
                </a:lnTo>
                <a:lnTo>
                  <a:pt x="2431724" y="1914556"/>
                </a:lnTo>
                <a:lnTo>
                  <a:pt x="0" y="1914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369801" y="3400618"/>
            <a:ext cx="8628594" cy="221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Passengers ask complex, varied questions — and expect instant, accurate answers. Traditional systems fail with rigid menus and scripted responses.</a:t>
            </a:r>
          </a:p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Generative AI understands natural language, retrieves live baggage policies, and delivers personalized replies — across chat, voice, and mobile channels — in seconds.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69801" y="6374239"/>
            <a:ext cx="8628594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✦  Natural Language Understanding — interprets any passenger query</a:t>
            </a:r>
          </a:p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✦  Policy Retrieval — pulls real-time baggage rules instantly</a:t>
            </a:r>
          </a:p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✦  Personalized Responses — tailored to flight, route &amp; passenger profile</a:t>
            </a:r>
          </a:p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✦  Omnichannel Support — app, kiosk, web &amp; voice, all unified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70901" y="1028700"/>
            <a:ext cx="9946199" cy="958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33"/>
              </a:lnSpc>
            </a:pPr>
            <a:r>
              <a:rPr lang="en-US" sz="6300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Why Generative AI?</a:t>
            </a:r>
          </a:p>
        </p:txBody>
      </p:sp>
      <p:sp>
        <p:nvSpPr>
          <p:cNvPr id="14" name="Freeform 14"/>
          <p:cNvSpPr/>
          <p:nvPr/>
        </p:nvSpPr>
        <p:spPr>
          <a:xfrm>
            <a:off x="14786847" y="351638"/>
            <a:ext cx="4342828" cy="1319134"/>
          </a:xfrm>
          <a:custGeom>
            <a:avLst/>
            <a:gdLst/>
            <a:ahLst/>
            <a:cxnLst/>
            <a:rect l="l" t="t" r="r" b="b"/>
            <a:pathLst>
              <a:path w="4342828" h="1319134">
                <a:moveTo>
                  <a:pt x="0" y="0"/>
                </a:moveTo>
                <a:lnTo>
                  <a:pt x="4342828" y="0"/>
                </a:lnTo>
                <a:lnTo>
                  <a:pt x="4342828" y="1319134"/>
                </a:lnTo>
                <a:lnTo>
                  <a:pt x="0" y="13191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76935" y="3464911"/>
            <a:ext cx="8806274" cy="5007725"/>
            <a:chOff x="0" y="0"/>
            <a:chExt cx="589515" cy="335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9515" cy="335230"/>
            </a:xfrm>
            <a:custGeom>
              <a:avLst/>
              <a:gdLst/>
              <a:ahLst/>
              <a:cxnLst/>
              <a:rect l="l" t="t" r="r" b="b"/>
              <a:pathLst>
                <a:path w="589515" h="335230">
                  <a:moveTo>
                    <a:pt x="0" y="0"/>
                  </a:moveTo>
                  <a:lnTo>
                    <a:pt x="589515" y="0"/>
                  </a:lnTo>
                  <a:lnTo>
                    <a:pt x="589515" y="335230"/>
                  </a:lnTo>
                  <a:lnTo>
                    <a:pt x="0" y="335230"/>
                  </a:lnTo>
                  <a:close/>
                </a:path>
              </a:pathLst>
            </a:custGeom>
            <a:blipFill>
              <a:blip r:embed="rId2"/>
              <a:stretch>
                <a:fillRect t="-667" b="-66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6630155" y="2209374"/>
            <a:ext cx="1924374" cy="769750"/>
          </a:xfrm>
          <a:custGeom>
            <a:avLst/>
            <a:gdLst/>
            <a:ahLst/>
            <a:cxnLst/>
            <a:rect l="l" t="t" r="r" b="b"/>
            <a:pathLst>
              <a:path w="1924374" h="769750">
                <a:moveTo>
                  <a:pt x="0" y="0"/>
                </a:moveTo>
                <a:lnTo>
                  <a:pt x="1924374" y="0"/>
                </a:lnTo>
                <a:lnTo>
                  <a:pt x="1924374" y="769750"/>
                </a:lnTo>
                <a:lnTo>
                  <a:pt x="0" y="769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436018" y="-354299"/>
            <a:ext cx="2593734" cy="1992115"/>
          </a:xfrm>
          <a:custGeom>
            <a:avLst/>
            <a:gdLst/>
            <a:ahLst/>
            <a:cxnLst/>
            <a:rect l="l" t="t" r="r" b="b"/>
            <a:pathLst>
              <a:path w="2593734" h="1992115">
                <a:moveTo>
                  <a:pt x="0" y="0"/>
                </a:moveTo>
                <a:lnTo>
                  <a:pt x="2593734" y="0"/>
                </a:lnTo>
                <a:lnTo>
                  <a:pt x="2593734" y="1992115"/>
                </a:lnTo>
                <a:lnTo>
                  <a:pt x="0" y="1992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981079" y="-632552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4"/>
                </a:lnTo>
                <a:lnTo>
                  <a:pt x="0" y="12651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31171" y="3650444"/>
            <a:ext cx="8550058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is AeroNova Airways' intelligent, conversational baggage assistant — available 24/7 across web, app, and airport kiosks.</a:t>
            </a:r>
          </a:p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Powered by Generative AI, it delivers instant, clear answers on allowances, restricted items, excess fees, real-time bag tracking, and lost baggage claims.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575899"/>
            <a:ext cx="9407318" cy="165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0"/>
              </a:lnSpc>
            </a:pPr>
            <a:r>
              <a:rPr lang="en-US" sz="6300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Introducing</a:t>
            </a:r>
          </a:p>
          <a:p>
            <a:pPr marL="0" lvl="0" indent="0" algn="l">
              <a:lnSpc>
                <a:spcPts val="6300"/>
              </a:lnSpc>
            </a:pPr>
            <a:r>
              <a:rPr lang="en-US" sz="6300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BagAssist 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1171" y="6654629"/>
            <a:ext cx="8550058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No more queues. No more confusion. BagAssist AI speaks the passenger's language — turning complex baggage policies into simple, human conversations at every step of the journey.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156472" y="76906"/>
            <a:ext cx="1344959" cy="2161853"/>
          </a:xfrm>
          <a:custGeom>
            <a:avLst/>
            <a:gdLst/>
            <a:ahLst/>
            <a:cxnLst/>
            <a:rect l="l" t="t" r="r" b="b"/>
            <a:pathLst>
              <a:path w="1344959" h="2161853">
                <a:moveTo>
                  <a:pt x="0" y="0"/>
                </a:moveTo>
                <a:lnTo>
                  <a:pt x="1344958" y="0"/>
                </a:lnTo>
                <a:lnTo>
                  <a:pt x="1344958" y="2161854"/>
                </a:lnTo>
                <a:lnTo>
                  <a:pt x="0" y="21618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16743" y="7702315"/>
            <a:ext cx="2742513" cy="2057400"/>
          </a:xfrm>
          <a:custGeom>
            <a:avLst/>
            <a:gdLst/>
            <a:ahLst/>
            <a:cxnLst/>
            <a:rect l="l" t="t" r="r" b="b"/>
            <a:pathLst>
              <a:path w="2742513" h="2057400">
                <a:moveTo>
                  <a:pt x="0" y="0"/>
                </a:moveTo>
                <a:lnTo>
                  <a:pt x="2742514" y="0"/>
                </a:lnTo>
                <a:lnTo>
                  <a:pt x="274251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348370" y="-477500"/>
            <a:ext cx="2754140" cy="2115315"/>
          </a:xfrm>
          <a:custGeom>
            <a:avLst/>
            <a:gdLst/>
            <a:ahLst/>
            <a:cxnLst/>
            <a:rect l="l" t="t" r="r" b="b"/>
            <a:pathLst>
              <a:path w="2754140" h="2115315">
                <a:moveTo>
                  <a:pt x="0" y="0"/>
                </a:moveTo>
                <a:lnTo>
                  <a:pt x="2754140" y="0"/>
                </a:lnTo>
                <a:lnTo>
                  <a:pt x="2754140" y="2115316"/>
                </a:lnTo>
                <a:lnTo>
                  <a:pt x="0" y="21153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-1981079" y="4776773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14426" y="1742591"/>
            <a:ext cx="11259148" cy="764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4"/>
              </a:lnSpc>
            </a:pPr>
            <a:r>
              <a:rPr lang="en-US" sz="5734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BagAssist AI: Core Capabilities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05687" y="3604411"/>
            <a:ext cx="6476990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uses natural language understanding to interpret passenger queries — whether typed, spoken, or ambiguous. It recognizes intent across multiple languages, handling baggage questions of any complexity with speed and accuracy.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05687" y="6005787"/>
            <a:ext cx="4366513" cy="35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ea typeface="Alef Bold"/>
                <a:cs typeface="Alef Bold"/>
                <a:sym typeface="Alef Bold"/>
              </a:rPr>
              <a:t>Personalized by Route &amp; Booking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64523" y="5880375"/>
            <a:ext cx="4366513" cy="35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ea typeface="Alef Bold"/>
                <a:cs typeface="Alef Bold"/>
                <a:sym typeface="Alef Bold"/>
              </a:rPr>
              <a:t>Smart Escalation to Staff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05687" y="3164134"/>
            <a:ext cx="4366513" cy="35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ea typeface="Alef Bold"/>
                <a:cs typeface="Alef Bold"/>
                <a:sym typeface="Alef Bold"/>
              </a:rPr>
              <a:t>Understand Passenger Questions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64523" y="3159911"/>
            <a:ext cx="4366513" cy="35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ea typeface="Alef Bold"/>
                <a:cs typeface="Alef Bold"/>
                <a:sym typeface="Alef Bold"/>
              </a:rPr>
              <a:t>Policy-Grounded Answers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64523" y="3604411"/>
            <a:ext cx="6476990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Every response is grounded in AeroNova Airways' live baggage policies. BagAssist AI retrieves up-to-date rules on weight limits, fees, restricted items, and special baggage — ensuring passengers always receive accurate, compliant information.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5687" y="6450287"/>
            <a:ext cx="6476990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connects to passenger booking data to deliver tailored responses. Allowances, fees, and policies are presented based on the passenger's specific route, fare class, and loyalty tier — no generic answers, only relevant guidance.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05323" y="6450287"/>
            <a:ext cx="6476990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When a query exceeds AI scope — such as lost baggage claims or special handling disputes — BagAssist AI seamlessly escalates to a human agent, passing full context so passengers never have to repeat themselves.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6117856" y="546696"/>
            <a:ext cx="1443987" cy="1306809"/>
          </a:xfrm>
          <a:custGeom>
            <a:avLst/>
            <a:gdLst/>
            <a:ahLst/>
            <a:cxnLst/>
            <a:rect l="l" t="t" r="r" b="b"/>
            <a:pathLst>
              <a:path w="1443987" h="1306809">
                <a:moveTo>
                  <a:pt x="0" y="0"/>
                </a:moveTo>
                <a:lnTo>
                  <a:pt x="1443987" y="0"/>
                </a:lnTo>
                <a:lnTo>
                  <a:pt x="1443987" y="1306809"/>
                </a:lnTo>
                <a:lnTo>
                  <a:pt x="0" y="1306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5400000">
            <a:off x="16264612" y="3589323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414986" y="2276984"/>
            <a:ext cx="1358061" cy="327936"/>
          </a:xfrm>
          <a:custGeom>
            <a:avLst/>
            <a:gdLst/>
            <a:ahLst/>
            <a:cxnLst/>
            <a:rect l="l" t="t" r="r" b="b"/>
            <a:pathLst>
              <a:path w="1358061" h="327936">
                <a:moveTo>
                  <a:pt x="0" y="0"/>
                </a:moveTo>
                <a:lnTo>
                  <a:pt x="1358061" y="0"/>
                </a:lnTo>
                <a:lnTo>
                  <a:pt x="1358061" y="327936"/>
                </a:lnTo>
                <a:lnTo>
                  <a:pt x="0" y="327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14953" y="2276984"/>
            <a:ext cx="1358061" cy="327936"/>
          </a:xfrm>
          <a:custGeom>
            <a:avLst/>
            <a:gdLst/>
            <a:ahLst/>
            <a:cxnLst/>
            <a:rect l="l" t="t" r="r" b="b"/>
            <a:pathLst>
              <a:path w="1358061" h="327936">
                <a:moveTo>
                  <a:pt x="0" y="0"/>
                </a:moveTo>
                <a:lnTo>
                  <a:pt x="1358061" y="0"/>
                </a:lnTo>
                <a:lnTo>
                  <a:pt x="1358061" y="327936"/>
                </a:lnTo>
                <a:lnTo>
                  <a:pt x="0" y="327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570209" y="7580007"/>
            <a:ext cx="1968640" cy="787456"/>
          </a:xfrm>
          <a:custGeom>
            <a:avLst/>
            <a:gdLst/>
            <a:ahLst/>
            <a:cxnLst/>
            <a:rect l="l" t="t" r="r" b="b"/>
            <a:pathLst>
              <a:path w="1968640" h="787456">
                <a:moveTo>
                  <a:pt x="0" y="0"/>
                </a:moveTo>
                <a:lnTo>
                  <a:pt x="1968640" y="0"/>
                </a:lnTo>
                <a:lnTo>
                  <a:pt x="1968640" y="787456"/>
                </a:lnTo>
                <a:lnTo>
                  <a:pt x="0" y="787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108400">
            <a:off x="-1079971" y="-569053"/>
            <a:ext cx="3631143" cy="2788896"/>
          </a:xfrm>
          <a:custGeom>
            <a:avLst/>
            <a:gdLst/>
            <a:ahLst/>
            <a:cxnLst/>
            <a:rect l="l" t="t" r="r" b="b"/>
            <a:pathLst>
              <a:path w="3631143" h="2788896">
                <a:moveTo>
                  <a:pt x="0" y="0"/>
                </a:moveTo>
                <a:lnTo>
                  <a:pt x="3631144" y="0"/>
                </a:lnTo>
                <a:lnTo>
                  <a:pt x="3631144" y="2788896"/>
                </a:lnTo>
                <a:lnTo>
                  <a:pt x="0" y="2788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08420" y="3956062"/>
            <a:ext cx="7692963" cy="76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"Hi, I'm flying AeroNova Airways tomorrow on Route AN-204 (Dubai to London). Can I take a power bank in my carry-on? And can I bring an extra bag? I already have one checked bag booked."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73993" y="5664847"/>
            <a:ext cx="5451201" cy="379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 b="1">
                <a:solidFill>
                  <a:srgbClr val="1C2C68"/>
                </a:solidFill>
                <a:latin typeface="Alef Bold"/>
                <a:ea typeface="Alef Bold"/>
                <a:cs typeface="Alef Bold"/>
                <a:sym typeface="Alef Bold"/>
              </a:rPr>
              <a:t>Escalation Options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25510" y="5664847"/>
            <a:ext cx="4913595" cy="379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 b="1">
                <a:solidFill>
                  <a:srgbClr val="1C2C68"/>
                </a:solidFill>
                <a:latin typeface="Alef Bold"/>
                <a:ea typeface="Alef Bold"/>
                <a:cs typeface="Alef Bold"/>
                <a:sym typeface="Alef Bold"/>
              </a:rPr>
              <a:t>Why It Works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8420" y="3506261"/>
            <a:ext cx="5186269" cy="379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 b="1">
                <a:solidFill>
                  <a:srgbClr val="1C2C68"/>
                </a:solidFill>
                <a:latin typeface="Alef Bold"/>
                <a:ea typeface="Alef Bold"/>
                <a:cs typeface="Alef Bold"/>
                <a:sym typeface="Alef Bold"/>
              </a:rPr>
              <a:t>Passenger Query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59937" y="3502037"/>
            <a:ext cx="4890386" cy="379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 b="1">
                <a:solidFill>
                  <a:srgbClr val="1C2C68"/>
                </a:solidFill>
                <a:latin typeface="Alef Bold"/>
                <a:ea typeface="Alef Bold"/>
                <a:cs typeface="Alef Bold"/>
                <a:sym typeface="Alef Bold"/>
              </a:rPr>
              <a:t>BagAssist AI Response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59937" y="3956062"/>
            <a:ext cx="7254070" cy="1605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 dirty="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Hi there! Great question. Here's your baggage summary for Route AN-204:</a:t>
            </a:r>
          </a:p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 dirty="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✅ Power Bank: Allowed in carry-on only (max 100Wh). Not permitted in checked baggage.</a:t>
            </a:r>
          </a:p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 dirty="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✅ Extra Bag: Yes! You can add a 2nd checked bag (23kg) for Rs500 via Manage Booking.</a:t>
            </a:r>
          </a:p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 dirty="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Need help adding it now?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3993" y="6118872"/>
            <a:ext cx="7712318" cy="1534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offers seamless escalation:</a:t>
            </a:r>
          </a:p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📞 "Connect me to an agent"</a:t>
            </a:r>
          </a:p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📧 "Email me this summary"</a:t>
            </a:r>
          </a:p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🔗 "Take me to Manage Booking"</a:t>
            </a:r>
          </a:p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All responses are route-aware, real-time, and powered by AeroNova's live policy database — no wait times, no confusion.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25510" y="6118872"/>
            <a:ext cx="7288496" cy="1019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 dirty="0" err="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</a:t>
            </a:r>
            <a:r>
              <a:rPr lang="en-US" sz="1471" dirty="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 AI understands natural language, retrieves route-specific policies instantly, and guides passengers to action — reducing baggage-related queries to </a:t>
            </a:r>
            <a:r>
              <a:rPr lang="en-US" sz="1471" dirty="0" err="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AeroNova</a:t>
            </a:r>
            <a:r>
              <a:rPr lang="en-US" sz="1471" dirty="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 support desks by up to 60% and boosting passenger satisfaction scores significantly.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73014" y="2027567"/>
            <a:ext cx="8541971" cy="50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22"/>
              </a:lnSpc>
            </a:pPr>
            <a:r>
              <a:rPr lang="en-US" sz="3822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BagAssist AI — Live Chatbot Demo</a:t>
            </a:r>
          </a:p>
        </p:txBody>
      </p:sp>
      <p:sp>
        <p:nvSpPr>
          <p:cNvPr id="18" name="Freeform 18"/>
          <p:cNvSpPr/>
          <p:nvPr/>
        </p:nvSpPr>
        <p:spPr>
          <a:xfrm rot="-6473439">
            <a:off x="17174437" y="1742032"/>
            <a:ext cx="3022407" cy="2321357"/>
          </a:xfrm>
          <a:custGeom>
            <a:avLst/>
            <a:gdLst/>
            <a:ahLst/>
            <a:cxnLst/>
            <a:rect l="l" t="t" r="r" b="b"/>
            <a:pathLst>
              <a:path w="3022407" h="2321357">
                <a:moveTo>
                  <a:pt x="0" y="0"/>
                </a:moveTo>
                <a:lnTo>
                  <a:pt x="3022407" y="0"/>
                </a:lnTo>
                <a:lnTo>
                  <a:pt x="3022407" y="2321357"/>
                </a:lnTo>
                <a:lnTo>
                  <a:pt x="0" y="23213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-1233039" y="7580007"/>
            <a:ext cx="1968640" cy="787456"/>
          </a:xfrm>
          <a:custGeom>
            <a:avLst/>
            <a:gdLst/>
            <a:ahLst/>
            <a:cxnLst/>
            <a:rect l="l" t="t" r="r" b="b"/>
            <a:pathLst>
              <a:path w="1968640" h="787456">
                <a:moveTo>
                  <a:pt x="0" y="0"/>
                </a:moveTo>
                <a:lnTo>
                  <a:pt x="1968640" y="0"/>
                </a:lnTo>
                <a:lnTo>
                  <a:pt x="1968640" y="787456"/>
                </a:lnTo>
                <a:lnTo>
                  <a:pt x="0" y="787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009641" y="612090"/>
            <a:ext cx="1671027" cy="1188518"/>
          </a:xfrm>
          <a:custGeom>
            <a:avLst/>
            <a:gdLst/>
            <a:ahLst/>
            <a:cxnLst/>
            <a:rect l="l" t="t" r="r" b="b"/>
            <a:pathLst>
              <a:path w="1671027" h="1188518">
                <a:moveTo>
                  <a:pt x="0" y="0"/>
                </a:moveTo>
                <a:lnTo>
                  <a:pt x="1671027" y="0"/>
                </a:lnTo>
                <a:lnTo>
                  <a:pt x="1671027" y="1188518"/>
                </a:lnTo>
                <a:lnTo>
                  <a:pt x="0" y="11885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445559" y="3182429"/>
            <a:ext cx="7813741" cy="2480369"/>
            <a:chOff x="0" y="0"/>
            <a:chExt cx="523072" cy="1660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3072" cy="166042"/>
            </a:xfrm>
            <a:custGeom>
              <a:avLst/>
              <a:gdLst/>
              <a:ahLst/>
              <a:cxnLst/>
              <a:rect l="l" t="t" r="r" b="b"/>
              <a:pathLst>
                <a:path w="523072" h="166042">
                  <a:moveTo>
                    <a:pt x="0" y="0"/>
                  </a:moveTo>
                  <a:lnTo>
                    <a:pt x="523072" y="0"/>
                  </a:lnTo>
                  <a:lnTo>
                    <a:pt x="523072" y="166042"/>
                  </a:lnTo>
                  <a:lnTo>
                    <a:pt x="0" y="166042"/>
                  </a:lnTo>
                  <a:close/>
                </a:path>
              </a:pathLst>
            </a:custGeom>
            <a:blipFill>
              <a:blip r:embed="rId2"/>
              <a:stretch>
                <a:fillRect t="-994" b="-99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2399309">
            <a:off x="-1468818" y="-989050"/>
            <a:ext cx="2937635" cy="2420948"/>
          </a:xfrm>
          <a:custGeom>
            <a:avLst/>
            <a:gdLst/>
            <a:ahLst/>
            <a:cxnLst/>
            <a:rect l="l" t="t" r="r" b="b"/>
            <a:pathLst>
              <a:path w="2937635" h="2420948">
                <a:moveTo>
                  <a:pt x="0" y="0"/>
                </a:moveTo>
                <a:lnTo>
                  <a:pt x="2937636" y="0"/>
                </a:lnTo>
                <a:lnTo>
                  <a:pt x="2937636" y="2420948"/>
                </a:lnTo>
                <a:lnTo>
                  <a:pt x="0" y="2420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1985024" y="-462533"/>
            <a:ext cx="2734812" cy="1367914"/>
          </a:xfrm>
          <a:custGeom>
            <a:avLst/>
            <a:gdLst/>
            <a:ahLst/>
            <a:cxnLst/>
            <a:rect l="l" t="t" r="r" b="b"/>
            <a:pathLst>
              <a:path w="2734812" h="1367914">
                <a:moveTo>
                  <a:pt x="0" y="0"/>
                </a:moveTo>
                <a:lnTo>
                  <a:pt x="2734812" y="0"/>
                </a:lnTo>
                <a:lnTo>
                  <a:pt x="2734812" y="1367914"/>
                </a:lnTo>
                <a:lnTo>
                  <a:pt x="0" y="13679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236044" y="-827933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698434"/>
            <a:ext cx="10970724" cy="66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76"/>
              </a:lnSpc>
            </a:pPr>
            <a:r>
              <a:rPr lang="en-US" sz="4976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AI-Generated Baggage Infographic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0226" y="3296758"/>
            <a:ext cx="8103774" cy="147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 dirty="0" err="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</a:t>
            </a:r>
            <a:r>
              <a:rPr lang="en-US" sz="2099" dirty="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 AI instantly generates clear, visual baggage guides for </a:t>
            </a:r>
            <a:r>
              <a:rPr lang="en-US" sz="2099" dirty="0" err="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AeroNova</a:t>
            </a:r>
            <a:r>
              <a:rPr lang="en-US" sz="2099" dirty="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 Airways passengers — covering carry-on limits, checked bag allowances, prohibited items, and claim steps. No more confusion at the gate.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0226" y="6230053"/>
            <a:ext cx="8103774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Powered by Generative AI, these infographics are auto-created in real time, tailored to each route, class, and passenger profile — delivered via app, kiosk, or boarding pass.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6117856" y="546696"/>
            <a:ext cx="1443987" cy="1306809"/>
          </a:xfrm>
          <a:custGeom>
            <a:avLst/>
            <a:gdLst/>
            <a:ahLst/>
            <a:cxnLst/>
            <a:rect l="l" t="t" r="r" b="b"/>
            <a:pathLst>
              <a:path w="1443987" h="1306809">
                <a:moveTo>
                  <a:pt x="0" y="0"/>
                </a:moveTo>
                <a:lnTo>
                  <a:pt x="1443987" y="0"/>
                </a:lnTo>
                <a:lnTo>
                  <a:pt x="1443987" y="1306809"/>
                </a:lnTo>
                <a:lnTo>
                  <a:pt x="0" y="1306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5400000">
            <a:off x="-2227205" y="5771140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6F35BE-879C-08B1-9CCE-A6A8C8D432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058298"/>
            <a:ext cx="8991600" cy="6072747"/>
          </a:xfrm>
          <a:prstGeom prst="rect">
            <a:avLst/>
          </a:prstGeom>
          <a:effectLst>
            <a:glow rad="12700">
              <a:schemeClr val="accent1">
                <a:lumMod val="20000"/>
                <a:lumOff val="80000"/>
                <a:alpha val="40000"/>
              </a:schemeClr>
            </a:glow>
            <a:softEdge rad="1270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607579" y="8625748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4"/>
                </a:lnTo>
                <a:lnTo>
                  <a:pt x="0" y="12651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-1570819"/>
            <a:ext cx="918239" cy="4938859"/>
          </a:xfrm>
          <a:custGeom>
            <a:avLst/>
            <a:gdLst/>
            <a:ahLst/>
            <a:cxnLst/>
            <a:rect l="l" t="t" r="r" b="b"/>
            <a:pathLst>
              <a:path w="918239" h="4938859">
                <a:moveTo>
                  <a:pt x="0" y="0"/>
                </a:moveTo>
                <a:lnTo>
                  <a:pt x="918239" y="0"/>
                </a:lnTo>
                <a:lnTo>
                  <a:pt x="918239" y="4938859"/>
                </a:lnTo>
                <a:lnTo>
                  <a:pt x="0" y="4938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784808" y="-405806"/>
            <a:ext cx="2431724" cy="1914556"/>
          </a:xfrm>
          <a:custGeom>
            <a:avLst/>
            <a:gdLst/>
            <a:ahLst/>
            <a:cxnLst/>
            <a:rect l="l" t="t" r="r" b="b"/>
            <a:pathLst>
              <a:path w="2431724" h="1914556">
                <a:moveTo>
                  <a:pt x="0" y="0"/>
                </a:moveTo>
                <a:lnTo>
                  <a:pt x="2431724" y="0"/>
                </a:lnTo>
                <a:lnTo>
                  <a:pt x="2431724" y="1914556"/>
                </a:lnTo>
                <a:lnTo>
                  <a:pt x="0" y="1914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13216532" y="-713633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07579" y="2009291"/>
            <a:ext cx="11608953" cy="70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07"/>
              </a:lnSpc>
            </a:pPr>
            <a:r>
              <a:rPr lang="en-US" sz="5207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AI-Generated Baggage Video Demo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07579" y="3466620"/>
            <a:ext cx="15651721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produces short animated explainer videos — instantly, on demand — guiding passengers through every baggage step: from check-in drop-off and automated tagging to security restrictions and baggage claim collection.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7579" y="5239828"/>
            <a:ext cx="8069821" cy="1470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Each video is </a:t>
            </a:r>
            <a:r>
              <a:rPr lang="en-US" sz="2099" dirty="0" err="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personalised</a:t>
            </a:r>
            <a:r>
              <a:rPr lang="en-US" sz="2099" dirty="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 to the passenger's route, language, and baggage type. No more printed leaflets or missed announcements. Clear, visual, and accessible guidance — delivered before the passenger even reaches the airport.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117856" y="546696"/>
            <a:ext cx="1443987" cy="1306809"/>
          </a:xfrm>
          <a:custGeom>
            <a:avLst/>
            <a:gdLst/>
            <a:ahLst/>
            <a:cxnLst/>
            <a:rect l="l" t="t" r="r" b="b"/>
            <a:pathLst>
              <a:path w="1443987" h="1306809">
                <a:moveTo>
                  <a:pt x="0" y="0"/>
                </a:moveTo>
                <a:lnTo>
                  <a:pt x="1443987" y="0"/>
                </a:lnTo>
                <a:lnTo>
                  <a:pt x="1443987" y="1306809"/>
                </a:lnTo>
                <a:lnTo>
                  <a:pt x="0" y="1306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3" name="v2_awv-7dbbc51426fad55a">
            <a:hlinkClick r:id="" action="ppaction://media"/>
            <a:extLst>
              <a:ext uri="{FF2B5EF4-FFF2-40B4-BE49-F238E27FC236}">
                <a16:creationId xmlns:a16="http://schemas.microsoft.com/office/drawing/2014/main" id="{85755B8B-A1A7-EB0A-1961-5BAC8B4F71C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906000" y="4549485"/>
            <a:ext cx="8249644" cy="4491823"/>
          </a:xfrm>
          <a:prstGeom prst="rect">
            <a:avLst/>
          </a:prstGeom>
          <a:effectLst>
            <a:softEdge rad="762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67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6460471" cy="9503433"/>
            <a:chOff x="0" y="0"/>
            <a:chExt cx="432481" cy="6361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481" cy="636185"/>
            </a:xfrm>
            <a:custGeom>
              <a:avLst/>
              <a:gdLst/>
              <a:ahLst/>
              <a:cxnLst/>
              <a:rect l="l" t="t" r="r" b="b"/>
              <a:pathLst>
                <a:path w="432481" h="636185">
                  <a:moveTo>
                    <a:pt x="0" y="0"/>
                  </a:moveTo>
                  <a:lnTo>
                    <a:pt x="432481" y="0"/>
                  </a:lnTo>
                  <a:lnTo>
                    <a:pt x="432481" y="636185"/>
                  </a:lnTo>
                  <a:lnTo>
                    <a:pt x="0" y="636185"/>
                  </a:lnTo>
                  <a:close/>
                </a:path>
              </a:pathLst>
            </a:custGeom>
            <a:blipFill>
              <a:blip r:embed="rId4"/>
              <a:stretch>
                <a:fillRect t="-77" b="-7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6723593" y="8077786"/>
            <a:ext cx="2196960" cy="1648132"/>
          </a:xfrm>
          <a:custGeom>
            <a:avLst/>
            <a:gdLst/>
            <a:ahLst/>
            <a:cxnLst/>
            <a:rect l="l" t="t" r="r" b="b"/>
            <a:pathLst>
              <a:path w="2196960" h="1648132">
                <a:moveTo>
                  <a:pt x="0" y="0"/>
                </a:moveTo>
                <a:lnTo>
                  <a:pt x="2196959" y="0"/>
                </a:lnTo>
                <a:lnTo>
                  <a:pt x="2196959" y="1648133"/>
                </a:lnTo>
                <a:lnTo>
                  <a:pt x="0" y="1648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4119132">
            <a:off x="7974268" y="-737886"/>
            <a:ext cx="2010109" cy="1656560"/>
          </a:xfrm>
          <a:custGeom>
            <a:avLst/>
            <a:gdLst/>
            <a:ahLst/>
            <a:cxnLst/>
            <a:rect l="l" t="t" r="r" b="b"/>
            <a:pathLst>
              <a:path w="2010109" h="1656560">
                <a:moveTo>
                  <a:pt x="0" y="0"/>
                </a:moveTo>
                <a:lnTo>
                  <a:pt x="2010108" y="0"/>
                </a:lnTo>
                <a:lnTo>
                  <a:pt x="2010108" y="1656560"/>
                </a:lnTo>
                <a:lnTo>
                  <a:pt x="0" y="1656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400000">
            <a:off x="16306921" y="2377226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322840" y="3811674"/>
            <a:ext cx="7562553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instantly generates calm, multilingual baggage announcements — covering carousel changes, delays, and lost luggage alerts — broadcast across AeroNova terminals in seconds, with human-review safeguards before every transmission.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22840" y="1699029"/>
            <a:ext cx="6808302" cy="1234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45"/>
              </a:lnSpc>
            </a:pPr>
            <a:r>
              <a:rPr lang="en-US" sz="4745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AI-Generated Baggage</a:t>
            </a:r>
          </a:p>
          <a:p>
            <a:pPr marL="0" lvl="0" indent="0" algn="l">
              <a:lnSpc>
                <a:spcPts val="4745"/>
              </a:lnSpc>
            </a:pPr>
            <a:r>
              <a:rPr lang="en-US" sz="4745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Announcements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97440" y="6931281"/>
            <a:ext cx="7562553" cy="1847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</a:pPr>
            <a:r>
              <a:rPr lang="en-US" sz="2099" dirty="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Demo: "Attention passengers on Flight NV-204, your baggage will now arrive at Carousel 7. We apologize for the delay. </a:t>
            </a:r>
            <a:br>
              <a:rPr lang="en-US" sz="2099" dirty="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</a:br>
            <a:br>
              <a:rPr lang="en-US" sz="2099" dirty="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</a:br>
            <a:r>
              <a:rPr lang="en-US" sz="2099" dirty="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Accessibility-ready: audio, visual display, and braille-compatible output.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093873" y="686725"/>
            <a:ext cx="1443987" cy="1044728"/>
          </a:xfrm>
          <a:custGeom>
            <a:avLst/>
            <a:gdLst/>
            <a:ahLst/>
            <a:cxnLst/>
            <a:rect l="l" t="t" r="r" b="b"/>
            <a:pathLst>
              <a:path w="1443987" h="1044728">
                <a:moveTo>
                  <a:pt x="0" y="0"/>
                </a:moveTo>
                <a:lnTo>
                  <a:pt x="1443987" y="0"/>
                </a:lnTo>
                <a:lnTo>
                  <a:pt x="1443987" y="1044728"/>
                </a:lnTo>
                <a:lnTo>
                  <a:pt x="0" y="10447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pic>
        <p:nvPicPr>
          <p:cNvPr id="14" name="luvvoice.com-20260922-S0mSTE">
            <a:hlinkClick r:id="" action="ppaction://media"/>
            <a:extLst>
              <a:ext uri="{FF2B5EF4-FFF2-40B4-BE49-F238E27FC236}">
                <a16:creationId xmlns:a16="http://schemas.microsoft.com/office/drawing/2014/main" id="{353A4C3D-9637-2DCE-D768-D6527D0310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337343" y="5628409"/>
            <a:ext cx="1234965" cy="123496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168295"/>
            <a:ext cx="9370834" cy="2832051"/>
            <a:chOff x="0" y="0"/>
            <a:chExt cx="627308" cy="1895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7308" cy="189585"/>
            </a:xfrm>
            <a:custGeom>
              <a:avLst/>
              <a:gdLst/>
              <a:ahLst/>
              <a:cxnLst/>
              <a:rect l="l" t="t" r="r" b="b"/>
              <a:pathLst>
                <a:path w="627308" h="189585">
                  <a:moveTo>
                    <a:pt x="0" y="0"/>
                  </a:moveTo>
                  <a:lnTo>
                    <a:pt x="627308" y="0"/>
                  </a:lnTo>
                  <a:lnTo>
                    <a:pt x="627308" y="189585"/>
                  </a:lnTo>
                  <a:lnTo>
                    <a:pt x="0" y="189585"/>
                  </a:lnTo>
                  <a:close/>
                </a:path>
              </a:pathLst>
            </a:custGeom>
            <a:blipFill>
              <a:blip r:embed="rId2"/>
              <a:stretch>
                <a:fillRect t="-873" b="-87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6198464"/>
            <a:ext cx="9370834" cy="2936011"/>
            <a:chOff x="0" y="0"/>
            <a:chExt cx="627308" cy="1965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7308" cy="196544"/>
            </a:xfrm>
            <a:custGeom>
              <a:avLst/>
              <a:gdLst/>
              <a:ahLst/>
              <a:cxnLst/>
              <a:rect l="l" t="t" r="r" b="b"/>
              <a:pathLst>
                <a:path w="627308" h="196544">
                  <a:moveTo>
                    <a:pt x="0" y="0"/>
                  </a:moveTo>
                  <a:lnTo>
                    <a:pt x="627308" y="0"/>
                  </a:lnTo>
                  <a:lnTo>
                    <a:pt x="627308" y="196544"/>
                  </a:lnTo>
                  <a:lnTo>
                    <a:pt x="0" y="196544"/>
                  </a:lnTo>
                  <a:close/>
                </a:path>
              </a:pathLst>
            </a:custGeom>
            <a:blipFill>
              <a:blip r:embed="rId3"/>
              <a:stretch>
                <a:fillRect l="-130" r="-13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782310" y="6198464"/>
            <a:ext cx="1234808" cy="298174"/>
          </a:xfrm>
          <a:custGeom>
            <a:avLst/>
            <a:gdLst/>
            <a:ahLst/>
            <a:cxnLst/>
            <a:rect l="l" t="t" r="r" b="b"/>
            <a:pathLst>
              <a:path w="1234808" h="298174">
                <a:moveTo>
                  <a:pt x="0" y="0"/>
                </a:moveTo>
                <a:lnTo>
                  <a:pt x="1234807" y="0"/>
                </a:lnTo>
                <a:lnTo>
                  <a:pt x="1234807" y="298173"/>
                </a:lnTo>
                <a:lnTo>
                  <a:pt x="0" y="2981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782310" y="3168295"/>
            <a:ext cx="1234808" cy="298174"/>
          </a:xfrm>
          <a:custGeom>
            <a:avLst/>
            <a:gdLst/>
            <a:ahLst/>
            <a:cxnLst/>
            <a:rect l="l" t="t" r="r" b="b"/>
            <a:pathLst>
              <a:path w="1234808" h="298174">
                <a:moveTo>
                  <a:pt x="0" y="0"/>
                </a:moveTo>
                <a:lnTo>
                  <a:pt x="1234807" y="0"/>
                </a:lnTo>
                <a:lnTo>
                  <a:pt x="1234807" y="298174"/>
                </a:lnTo>
                <a:lnTo>
                  <a:pt x="0" y="298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259300" y="2104942"/>
            <a:ext cx="1709944" cy="683978"/>
          </a:xfrm>
          <a:custGeom>
            <a:avLst/>
            <a:gdLst/>
            <a:ahLst/>
            <a:cxnLst/>
            <a:rect l="l" t="t" r="r" b="b"/>
            <a:pathLst>
              <a:path w="1709944" h="683978">
                <a:moveTo>
                  <a:pt x="0" y="0"/>
                </a:moveTo>
                <a:lnTo>
                  <a:pt x="1709944" y="0"/>
                </a:lnTo>
                <a:lnTo>
                  <a:pt x="1709944" y="683978"/>
                </a:lnTo>
                <a:lnTo>
                  <a:pt x="0" y="683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143000"/>
            <a:ext cx="12992105" cy="1626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95"/>
              </a:lnSpc>
            </a:pPr>
            <a:r>
              <a:rPr lang="en-US" sz="6295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Passenger Journey:</a:t>
            </a:r>
          </a:p>
          <a:p>
            <a:pPr marL="0" lvl="0" indent="0" algn="l">
              <a:lnSpc>
                <a:spcPts val="6295"/>
              </a:lnSpc>
            </a:pPr>
            <a:r>
              <a:rPr lang="en-US" sz="6295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Before &amp; After BagAssist AI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82310" y="3644203"/>
            <a:ext cx="6476990" cy="199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BEFORE BagAssist AI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✗ Long queues at baggage desks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✗ Inconsistent staff answers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✗ Repeated queries &amp; confusion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✗ Missed connections &amp; delays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✗ High passenger frustration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82310" y="6726352"/>
            <a:ext cx="6476990" cy="199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AFTER BagAssist AI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✓ Instant answers via AI chat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✓ Clear step-by-step guidance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✓ Fewer escalations to staff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✓ Confident, stress-free journey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✓ Higher passenger satisfaction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16117856" y="546696"/>
            <a:ext cx="1443987" cy="1306809"/>
          </a:xfrm>
          <a:custGeom>
            <a:avLst/>
            <a:gdLst/>
            <a:ahLst/>
            <a:cxnLst/>
            <a:rect l="l" t="t" r="r" b="b"/>
            <a:pathLst>
              <a:path w="1443987" h="1306809">
                <a:moveTo>
                  <a:pt x="0" y="0"/>
                </a:moveTo>
                <a:lnTo>
                  <a:pt x="1443987" y="0"/>
                </a:lnTo>
                <a:lnTo>
                  <a:pt x="1443987" y="1306809"/>
                </a:lnTo>
                <a:lnTo>
                  <a:pt x="0" y="1306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16743" y="7702315"/>
            <a:ext cx="2742513" cy="2057400"/>
          </a:xfrm>
          <a:custGeom>
            <a:avLst/>
            <a:gdLst/>
            <a:ahLst/>
            <a:cxnLst/>
            <a:rect l="l" t="t" r="r" b="b"/>
            <a:pathLst>
              <a:path w="2742513" h="2057400">
                <a:moveTo>
                  <a:pt x="0" y="0"/>
                </a:moveTo>
                <a:lnTo>
                  <a:pt x="2742514" y="0"/>
                </a:lnTo>
                <a:lnTo>
                  <a:pt x="274251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348370" y="-477500"/>
            <a:ext cx="2754140" cy="2115315"/>
          </a:xfrm>
          <a:custGeom>
            <a:avLst/>
            <a:gdLst/>
            <a:ahLst/>
            <a:cxnLst/>
            <a:rect l="l" t="t" r="r" b="b"/>
            <a:pathLst>
              <a:path w="2754140" h="2115315">
                <a:moveTo>
                  <a:pt x="0" y="0"/>
                </a:moveTo>
                <a:lnTo>
                  <a:pt x="2754140" y="0"/>
                </a:lnTo>
                <a:lnTo>
                  <a:pt x="2754140" y="2115316"/>
                </a:lnTo>
                <a:lnTo>
                  <a:pt x="0" y="21153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-1981079" y="4776773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14426" y="1733066"/>
            <a:ext cx="11259148" cy="78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00"/>
              </a:lnSpc>
            </a:pPr>
            <a:r>
              <a:rPr lang="en-US" sz="5800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Business &amp; Passenger Benefits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05687" y="3604411"/>
            <a:ext cx="6476990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delivers instant, accurate baggage answers 24/7, eliminating long wait times at help desks. Passengers feel informed and confident at every step of their journey with AeroNova Airways, driving higher satisfaction scores and loyalty.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05687" y="6005787"/>
            <a:ext cx="4366513" cy="347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087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ea typeface="Alef Bold"/>
                <a:cs typeface="Alef Bold"/>
                <a:sym typeface="Alef Bold"/>
              </a:rPr>
              <a:t>Consistent Policy Communication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64523" y="5880375"/>
            <a:ext cx="4366513" cy="347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087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ea typeface="Alef Bold"/>
                <a:cs typeface="Alef Bold"/>
                <a:sym typeface="Alef Bold"/>
              </a:rPr>
              <a:t>Faster Issue Resolution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05687" y="3164134"/>
            <a:ext cx="4366513" cy="347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087" b="1" dirty="0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ea typeface="Alef Bold"/>
                <a:cs typeface="Alef Bold"/>
                <a:sym typeface="Alef Bold"/>
              </a:rPr>
              <a:t>Passenger Satisfaction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64523" y="3159911"/>
            <a:ext cx="4366513" cy="347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087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ea typeface="Alef Bold"/>
                <a:cs typeface="Alef Bold"/>
                <a:sym typeface="Alef Bold"/>
              </a:rPr>
              <a:t>Lower Support Volume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64523" y="3604411"/>
            <a:ext cx="6476990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Repetitive baggage queries handled by BagAssist AI reduce pressure on human agents by up to 60%. Staff are freed to focus on complex cases, improving overall service quality while significantly cutting operational support costs for AeroNova.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5687" y="6450287"/>
            <a:ext cx="6476990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ensures every passenger receives the same accurate, up-to-date baggage policy information every time. No miscommunication, no outdated answers — just clear, reliable guidance aligned with AeroNova's latest rules and regulations.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05323" y="6450287"/>
            <a:ext cx="6476990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AI-powered triage routes complex baggage issues to the right team instantly, reducing resolution time by over 40%. Proactive alerts and real-time tracking updates keep passengers informed, turning potential complaints into positive brand experiences.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6117856" y="546696"/>
            <a:ext cx="1443987" cy="1306809"/>
          </a:xfrm>
          <a:custGeom>
            <a:avLst/>
            <a:gdLst/>
            <a:ahLst/>
            <a:cxnLst/>
            <a:rect l="l" t="t" r="r" b="b"/>
            <a:pathLst>
              <a:path w="1443987" h="1306809">
                <a:moveTo>
                  <a:pt x="0" y="0"/>
                </a:moveTo>
                <a:lnTo>
                  <a:pt x="1443987" y="0"/>
                </a:lnTo>
                <a:lnTo>
                  <a:pt x="1443987" y="1306809"/>
                </a:lnTo>
                <a:lnTo>
                  <a:pt x="0" y="1306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5400000">
            <a:off x="16264612" y="3589323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34888" y="4937281"/>
            <a:ext cx="8115300" cy="4647282"/>
            <a:chOff x="0" y="0"/>
            <a:chExt cx="543259" cy="3111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3259" cy="311101"/>
            </a:xfrm>
            <a:custGeom>
              <a:avLst/>
              <a:gdLst/>
              <a:ahLst/>
              <a:cxnLst/>
              <a:rect l="l" t="t" r="r" b="b"/>
              <a:pathLst>
                <a:path w="543259" h="311101">
                  <a:moveTo>
                    <a:pt x="0" y="0"/>
                  </a:moveTo>
                  <a:lnTo>
                    <a:pt x="543259" y="0"/>
                  </a:lnTo>
                  <a:lnTo>
                    <a:pt x="543259" y="311101"/>
                  </a:lnTo>
                  <a:lnTo>
                    <a:pt x="0" y="311101"/>
                  </a:lnTo>
                  <a:close/>
                </a:path>
              </a:pathLst>
            </a:custGeom>
            <a:blipFill>
              <a:blip r:embed="rId2"/>
              <a:stretch>
                <a:fillRect t="-313" b="-31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-10800000">
            <a:off x="1607579" y="8625748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4"/>
                </a:lnTo>
                <a:lnTo>
                  <a:pt x="0" y="12651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-1570819"/>
            <a:ext cx="918239" cy="4938859"/>
          </a:xfrm>
          <a:custGeom>
            <a:avLst/>
            <a:gdLst/>
            <a:ahLst/>
            <a:cxnLst/>
            <a:rect l="l" t="t" r="r" b="b"/>
            <a:pathLst>
              <a:path w="918239" h="4938859">
                <a:moveTo>
                  <a:pt x="0" y="0"/>
                </a:moveTo>
                <a:lnTo>
                  <a:pt x="918239" y="0"/>
                </a:lnTo>
                <a:lnTo>
                  <a:pt x="918239" y="4938859"/>
                </a:lnTo>
                <a:lnTo>
                  <a:pt x="0" y="4938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784808" y="-405806"/>
            <a:ext cx="2431724" cy="1914556"/>
          </a:xfrm>
          <a:custGeom>
            <a:avLst/>
            <a:gdLst/>
            <a:ahLst/>
            <a:cxnLst/>
            <a:rect l="l" t="t" r="r" b="b"/>
            <a:pathLst>
              <a:path w="2431724" h="1914556">
                <a:moveTo>
                  <a:pt x="0" y="0"/>
                </a:moveTo>
                <a:lnTo>
                  <a:pt x="2431724" y="0"/>
                </a:lnTo>
                <a:lnTo>
                  <a:pt x="2431724" y="1914556"/>
                </a:lnTo>
                <a:lnTo>
                  <a:pt x="0" y="1914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3216532" y="-713633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07579" y="1990241"/>
            <a:ext cx="11608953" cy="54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20"/>
              </a:lnSpc>
            </a:pPr>
            <a:r>
              <a:rPr lang="en-US" sz="4020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The Future of AI-Powered Passenger Support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7579" y="3466620"/>
            <a:ext cx="15651721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is just the beginning. AeroNova Airways envisions a fully proactive passenger support ecosystem — one where AI anticipates disruptions before they happen, predicts baggage risk at check-in, and delivers real-time multilingual voice assistance to every traveller, in every terminal, around the world.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07579" y="5239828"/>
            <a:ext cx="8686765" cy="221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Next on the roadmap: personalized travel companions that remember passenger preferences, proactive delay and rebooking alerts, and AI-driven baggage-risk scoring. Every step forward is guided by responsible, human-supervised AI — ensuring technology serves people, not the other way around. The story of smarter, kinder aviation has only just begun.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5013694" y="386235"/>
            <a:ext cx="3854425" cy="1320141"/>
          </a:xfrm>
          <a:custGeom>
            <a:avLst/>
            <a:gdLst/>
            <a:ahLst/>
            <a:cxnLst/>
            <a:rect l="l" t="t" r="r" b="b"/>
            <a:pathLst>
              <a:path w="3854425" h="1320141">
                <a:moveTo>
                  <a:pt x="0" y="0"/>
                </a:moveTo>
                <a:lnTo>
                  <a:pt x="3854425" y="0"/>
                </a:lnTo>
                <a:lnTo>
                  <a:pt x="3854425" y="1320141"/>
                </a:lnTo>
                <a:lnTo>
                  <a:pt x="0" y="1320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023920" y="7888152"/>
            <a:ext cx="2593734" cy="1992115"/>
          </a:xfrm>
          <a:custGeom>
            <a:avLst/>
            <a:gdLst/>
            <a:ahLst/>
            <a:cxnLst/>
            <a:rect l="l" t="t" r="r" b="b"/>
            <a:pathLst>
              <a:path w="2593734" h="1992115">
                <a:moveTo>
                  <a:pt x="2593734" y="0"/>
                </a:moveTo>
                <a:lnTo>
                  <a:pt x="0" y="0"/>
                </a:lnTo>
                <a:lnTo>
                  <a:pt x="0" y="1992115"/>
                </a:lnTo>
                <a:lnTo>
                  <a:pt x="2593734" y="1992115"/>
                </a:lnTo>
                <a:lnTo>
                  <a:pt x="259373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8434191" y="7716752"/>
            <a:ext cx="1419617" cy="342801"/>
          </a:xfrm>
          <a:custGeom>
            <a:avLst/>
            <a:gdLst/>
            <a:ahLst/>
            <a:cxnLst/>
            <a:rect l="l" t="t" r="r" b="b"/>
            <a:pathLst>
              <a:path w="1419617" h="342801">
                <a:moveTo>
                  <a:pt x="0" y="0"/>
                </a:moveTo>
                <a:lnTo>
                  <a:pt x="1419618" y="0"/>
                </a:lnTo>
                <a:lnTo>
                  <a:pt x="1419618" y="342800"/>
                </a:lnTo>
                <a:lnTo>
                  <a:pt x="0" y="342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665566" y="-495982"/>
            <a:ext cx="2593734" cy="1992115"/>
          </a:xfrm>
          <a:custGeom>
            <a:avLst/>
            <a:gdLst/>
            <a:ahLst/>
            <a:cxnLst/>
            <a:rect l="l" t="t" r="r" b="b"/>
            <a:pathLst>
              <a:path w="2593734" h="1992115">
                <a:moveTo>
                  <a:pt x="0" y="0"/>
                </a:moveTo>
                <a:lnTo>
                  <a:pt x="2593734" y="0"/>
                </a:lnTo>
                <a:lnTo>
                  <a:pt x="2593734" y="1992115"/>
                </a:lnTo>
                <a:lnTo>
                  <a:pt x="0" y="1992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257328" y="1496133"/>
            <a:ext cx="1610460" cy="1457466"/>
          </a:xfrm>
          <a:custGeom>
            <a:avLst/>
            <a:gdLst/>
            <a:ahLst/>
            <a:cxnLst/>
            <a:rect l="l" t="t" r="r" b="b"/>
            <a:pathLst>
              <a:path w="1610460" h="1457466">
                <a:moveTo>
                  <a:pt x="0" y="0"/>
                </a:moveTo>
                <a:lnTo>
                  <a:pt x="1610460" y="0"/>
                </a:lnTo>
                <a:lnTo>
                  <a:pt x="1610460" y="1457466"/>
                </a:lnTo>
                <a:lnTo>
                  <a:pt x="0" y="1457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5400000">
            <a:off x="16372649" y="3973488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5400000">
            <a:off x="-2168588" y="3973488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7" y="0"/>
                </a:lnTo>
                <a:lnTo>
                  <a:pt x="3962157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6A57A8-8D20-5D84-C318-92EF7F13F328}"/>
              </a:ext>
            </a:extLst>
          </p:cNvPr>
          <p:cNvSpPr txBox="1"/>
          <p:nvPr/>
        </p:nvSpPr>
        <p:spPr>
          <a:xfrm>
            <a:off x="4158116" y="3332879"/>
            <a:ext cx="1031988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0" b="1" dirty="0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cs typeface="Alef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1442</Words>
  <Application>Microsoft Office PowerPoint</Application>
  <PresentationFormat>Custom</PresentationFormat>
  <Paragraphs>93</Paragraphs>
  <Slides>15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Proxima Nova</vt:lpstr>
      <vt:lpstr>Canva Sans Bold</vt:lpstr>
      <vt:lpstr>Alef Bold</vt:lpstr>
      <vt:lpstr>Droid Serif Bold</vt:lpstr>
      <vt:lpstr>Arial</vt:lpstr>
      <vt:lpstr>Alef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varnika gupta</cp:lastModifiedBy>
  <cp:revision>2</cp:revision>
  <dcterms:created xsi:type="dcterms:W3CDTF">2006-08-16T00:00:00Z</dcterms:created>
  <dcterms:modified xsi:type="dcterms:W3CDTF">2026-09-22T02:00:48Z</dcterms:modified>
  <dc:identifier>DAHV4FF0rOA</dc:identifier>
</cp:coreProperties>
</file>